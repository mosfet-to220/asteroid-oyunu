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" y="45720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743200" y="109728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572000" y="27432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0" y="73152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18288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91440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57200" y="274320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28800" y="411480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657600" y="256032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486400" y="466344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15200" y="320040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0" y="438912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0" y="192024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371600" y="594360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57600" y="566928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72400" y="621792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58400" y="502920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82880" y="502920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43600" y="1371600"/>
            <a:ext cx="54864" cy="54864"/>
          </a:xfrm>
          <a:prstGeom prst="ellipse">
            <a:avLst/>
          </a:prstGeom>
          <a:solidFill>
            <a:srgbClr val="C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74320" y="1371600"/>
            <a:ext cx="228600" cy="228600"/>
          </a:xfrm>
          <a:prstGeom prst="ellipse">
            <a:avLst/>
          </a:prstGeom>
          <a:solidFill>
            <a:srgbClr val="FFD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430000" y="1828800"/>
            <a:ext cx="182880" cy="182880"/>
          </a:xfrm>
          <a:prstGeom prst="ellipse">
            <a:avLst/>
          </a:prstGeom>
          <a:solidFill>
            <a:srgbClr val="FFD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789920" y="5029200"/>
            <a:ext cx="274320" cy="274320"/>
          </a:xfrm>
          <a:prstGeom prst="ellipse">
            <a:avLst/>
          </a:prstGeom>
          <a:solidFill>
            <a:srgbClr val="FFD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1520" y="4572000"/>
            <a:ext cx="164592" cy="164592"/>
          </a:xfrm>
          <a:prstGeom prst="ellipse">
            <a:avLst/>
          </a:prstGeom>
          <a:solidFill>
            <a:srgbClr val="FFD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371600" y="1645920"/>
            <a:ext cx="9418320" cy="347472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371600" y="1645920"/>
            <a:ext cx="109728" cy="347472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28800" y="192024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ASTEROİD KAÇIRMA OYUNU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0175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8D7FF"/>
                </a:solidFill>
                <a:latin typeface="Calibri"/>
              </a:rPr>
              <a:t>8086 Assembly Dili ile DOS Tabanlı Oyun Geliştirme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931920"/>
            <a:ext cx="9418320" cy="1005840"/>
          </a:xfrm>
          <a:prstGeom prst="rect">
            <a:avLst/>
          </a:prstGeom>
          <a:solidFill>
            <a:srgbClr val="1E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0" y="40690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B4"/>
                </a:solidFill>
                <a:latin typeface="Calibri"/>
              </a:rPr>
              <a:t>Yusuf Talha Sağırlı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069080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dirty="0" err="1">
                <a:solidFill>
                  <a:srgbClr val="C8D7FF"/>
                </a:solidFill>
                <a:latin typeface="Calibri"/>
              </a:rPr>
              <a:t>Mikroişlemci</a:t>
            </a:r>
            <a:r>
              <a:rPr lang="tr-TR" sz="1300" dirty="0" err="1">
                <a:solidFill>
                  <a:srgbClr val="C8D7FF"/>
                </a:solidFill>
                <a:latin typeface="Calibri"/>
              </a:rPr>
              <a:t>ler</a:t>
            </a:r>
            <a:r>
              <a:rPr lang="tr-TR" sz="1300" dirty="0">
                <a:solidFill>
                  <a:srgbClr val="C8D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C8D7FF"/>
                </a:solidFill>
                <a:latin typeface="Calibri"/>
              </a:rPr>
              <a:t>Dersi</a:t>
            </a:r>
            <a:r>
              <a:rPr sz="1300" b="0" i="0" dirty="0">
                <a:solidFill>
                  <a:srgbClr val="C8D7FF"/>
                </a:solidFill>
                <a:latin typeface="Calibri"/>
              </a:rPr>
              <a:t>  •  27 Nisan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9436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6A0C8"/>
                </a:solidFill>
                <a:latin typeface="Calibri"/>
              </a:rPr>
              <a:t>^   *   *   *   *   S   *   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OYUN HAKKINDA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4169E1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669280" cy="502920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73152" cy="502920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B4"/>
                </a:solidFill>
                <a:latin typeface="Calibri"/>
              </a:rPr>
              <a:t>Oyun Tanımı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7FF"/>
                </a:solidFill>
                <a:latin typeface="Calibri"/>
              </a:rPr>
              <a:t>Oyuncu, ekranın altında '^' karakteriyle temsil edilir. Yukarıdan düşen asteroidlerden kaçmaya çalışır.
Düşen 'S' kalkan öğesini toplayarak bir çarpışmayı savuşturabilir.
Ekrandan geçen her asteroid skoru 1 artırır.
Kalkansız bir asteroide çarpmak oyunu bitirir.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394960" cy="5029200"/>
          </a:xfrm>
          <a:prstGeom prst="rect">
            <a:avLst/>
          </a:prstGeom>
          <a:solidFill>
            <a:srgbClr val="050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394960" cy="4572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6A0C8"/>
                </a:solidFill>
                <a:latin typeface="Calibri"/>
              </a:rPr>
              <a:t>[ EKRAN GÖRÜNÜMÜ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8B4"/>
                </a:solidFill>
                <a:latin typeface="Courier New"/>
              </a:rPr>
              <a:t>[S]                          TUR:05</a:t>
            </a:r>
          </a:p>
          <a:p>
            <a:pPr algn="l"/>
            <a:endParaRPr sz="1000" b="0">
              <a:solidFill>
                <a:srgbClr val="00C8B4"/>
              </a:solidFill>
              <a:latin typeface="Courier New"/>
            </a:endParaRPr>
          </a:p>
          <a:p>
            <a:pPr algn="l"/>
            <a:r>
              <a:rPr sz="1300" b="0">
                <a:solidFill>
                  <a:srgbClr val="FFDC32"/>
                </a:solidFill>
                <a:latin typeface="Courier New"/>
              </a:rPr>
              <a:t>     *</a:t>
            </a:r>
          </a:p>
          <a:p>
            <a:pPr algn="l"/>
            <a:endParaRPr sz="1300" b="0">
              <a:solidFill>
                <a:srgbClr val="FFDC32"/>
              </a:solidFill>
              <a:latin typeface="Courier New"/>
            </a:endParaRPr>
          </a:p>
          <a:p>
            <a:pPr algn="l"/>
            <a:r>
              <a:rPr sz="1300" b="0">
                <a:solidFill>
                  <a:srgbClr val="FFDC32"/>
                </a:solidFill>
                <a:latin typeface="Courier New"/>
              </a:rPr>
              <a:t>              ***</a:t>
            </a:r>
          </a:p>
          <a:p>
            <a:pPr algn="l"/>
            <a:endParaRPr sz="1300" b="0">
              <a:solidFill>
                <a:srgbClr val="FFDC32"/>
              </a:solidFill>
              <a:latin typeface="Courier New"/>
            </a:endParaRPr>
          </a:p>
          <a:p>
            <a:pPr algn="l"/>
            <a:r>
              <a:rPr sz="1300" b="0">
                <a:solidFill>
                  <a:srgbClr val="FFDC32"/>
                </a:solidFill>
                <a:latin typeface="Courier New"/>
              </a:rPr>
              <a:t>  *</a:t>
            </a:r>
          </a:p>
          <a:p>
            <a:pPr algn="l"/>
            <a:endParaRPr sz="1300" b="0">
              <a:solidFill>
                <a:srgbClr val="FFDC32"/>
              </a:solidFill>
              <a:latin typeface="Courier New"/>
            </a:endParaRPr>
          </a:p>
          <a:p>
            <a:pPr algn="l"/>
            <a:r>
              <a:rPr sz="1300" b="0">
                <a:solidFill>
                  <a:srgbClr val="00C8B4"/>
                </a:solidFill>
                <a:latin typeface="Courier New"/>
              </a:rPr>
              <a:t>          S</a:t>
            </a:r>
          </a:p>
          <a:p>
            <a:pPr algn="l"/>
            <a:endParaRPr sz="1300" b="0">
              <a:solidFill>
                <a:srgbClr val="00C8B4"/>
              </a:solidFill>
              <a:latin typeface="Courier New"/>
            </a:endParaRPr>
          </a:p>
          <a:p>
            <a:pPr algn="l"/>
            <a:r>
              <a:rPr sz="1400" b="1">
                <a:solidFill>
                  <a:srgbClr val="64C864"/>
                </a:solidFill>
                <a:latin typeface="Courier New"/>
              </a:rPr>
              <a:t>                   ^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OYUN MEKANİKLERİ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4169E1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743200" cy="512064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743200" cy="41148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8"/>
                </a:solidFill>
                <a:latin typeface="Calibri"/>
              </a:rPr>
              <a:t>ASTEROİDLER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3 asteroid aynı anda aktif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Boyut: 1–3 karakter (*/**/***)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566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Hız: 1–2 tur / adım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43891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Rastgele konum, boyut, hız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5212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Ekrandan çıkınca yenilenir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325880"/>
            <a:ext cx="2743200" cy="512064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0" y="1325880"/>
            <a:ext cx="2743200" cy="41148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8"/>
                </a:solidFill>
                <a:latin typeface="Calibri"/>
              </a:rPr>
              <a:t>OYUNCU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'^' karakteri ile temsil edilir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A → Sol hareket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566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D → Sağ hareket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3891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Sınır: sütun 1–78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5212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Q ile oyunu bitir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325880"/>
            <a:ext cx="2743200" cy="512064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0" y="1325880"/>
            <a:ext cx="2743200" cy="411480"/>
          </a:xfrm>
          <a:prstGeom prst="rect">
            <a:avLst/>
          </a:prstGeom>
          <a:solidFill>
            <a:srgbClr val="FFD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8"/>
                </a:solidFill>
                <a:latin typeface="Calibri"/>
              </a:rPr>
              <a:t>KALKAN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'S' karakteri olarak düşer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Nadir şansla üretilir (~1/64)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566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Toplanınca [S] göstergesi aktif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3891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Tek çarpışmayı engeller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212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Kullanınca harcanır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1325880"/>
            <a:ext cx="2743200" cy="512064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052560" y="1325880"/>
            <a:ext cx="2743200" cy="411480"/>
          </a:xfrm>
          <a:prstGeom prst="rect">
            <a:avLst/>
          </a:prstGeom>
          <a:solidFill>
            <a:srgbClr val="B4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8"/>
                </a:solidFill>
                <a:latin typeface="Calibri"/>
              </a:rPr>
              <a:t>SKOR SİSTEMİ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Tur sayacı ile ölçülür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743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Her ekrandan çıkan asteroid +1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566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Sağ üstte 'TUR:XX' gösterilir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3891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Oyun bitince final tur gösterilir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5212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▸  Hedef: maksimum tur hayatta kal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TEKNİK YAPI — BIOS/DOS KESMELERİ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0C8B4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749039" cy="146304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64008" cy="146304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169E1"/>
                </a:solidFill>
                <a:latin typeface="Courier New"/>
              </a:rPr>
              <a:t>INT 10h / AH=00h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7FF"/>
                </a:solidFill>
                <a:latin typeface="Calibri"/>
              </a:rPr>
              <a:t>Ekranı 80×25 metin moduna alma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749039" cy="146304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64008" cy="146304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169E1"/>
                </a:solidFill>
                <a:latin typeface="Courier New"/>
              </a:rPr>
              <a:t>INT 10h / AH=02h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659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7FF"/>
                </a:solidFill>
                <a:latin typeface="Calibri"/>
              </a:rPr>
              <a:t>İmleci satır/sütun konumuna taşıma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749039" cy="146304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64008" cy="146304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169E1"/>
                </a:solidFill>
                <a:latin typeface="Courier New"/>
              </a:rPr>
              <a:t>INT 10h / AH=06h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659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7FF"/>
                </a:solidFill>
                <a:latin typeface="Calibri"/>
              </a:rPr>
              <a:t>Ekranı temizleme (scroll up)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17520"/>
            <a:ext cx="3749039" cy="146304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017520"/>
            <a:ext cx="64008" cy="146304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169E1"/>
                </a:solidFill>
                <a:latin typeface="Courier New"/>
              </a:rPr>
              <a:t>INT 10h / AH=0Eh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1187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7FF"/>
                </a:solidFill>
                <a:latin typeface="Calibri"/>
              </a:rPr>
              <a:t>İmleç konumuna karakter yazma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017520"/>
            <a:ext cx="3749039" cy="146304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06240" y="3017520"/>
            <a:ext cx="64008" cy="146304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B4"/>
                </a:solidFill>
                <a:latin typeface="Courier New"/>
              </a:rPr>
              <a:t>INT 16h / AH=01h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61187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7FF"/>
                </a:solidFill>
                <a:latin typeface="Calibri"/>
              </a:rPr>
              <a:t>Tuş var mı? (beklemeden sorgula)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017520"/>
            <a:ext cx="3749039" cy="146304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60" y="3017520"/>
            <a:ext cx="64008" cy="146304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B4"/>
                </a:solidFill>
                <a:latin typeface="Courier New"/>
              </a:rPr>
              <a:t>INT 16h / AH=00h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61187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7FF"/>
                </a:solidFill>
                <a:latin typeface="Calibri"/>
              </a:rPr>
              <a:t>Klavyeden tuş oku (bloklu)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663440"/>
            <a:ext cx="3749039" cy="146304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4320" y="4663440"/>
            <a:ext cx="64008" cy="1463040"/>
          </a:xfrm>
          <a:prstGeom prst="rect">
            <a:avLst/>
          </a:prstGeom>
          <a:solidFill>
            <a:srgbClr val="FFD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7548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C32"/>
                </a:solidFill>
                <a:latin typeface="Courier New"/>
              </a:rPr>
              <a:t>INT 1Ah / AH=00h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257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7FF"/>
                </a:solidFill>
                <a:latin typeface="Calibri"/>
              </a:rPr>
              <a:t>Sistem saatinden rastgele bit 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4663440"/>
            <a:ext cx="3749039" cy="146304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06240" y="4663440"/>
            <a:ext cx="64008" cy="1463040"/>
          </a:xfrm>
          <a:prstGeom prst="rect">
            <a:avLst/>
          </a:prstGeom>
          <a:solidFill>
            <a:srgbClr val="FFD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9120" y="47548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C32"/>
                </a:solidFill>
                <a:latin typeface="Courier New"/>
              </a:rPr>
              <a:t>INT 15h / AH=86h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257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7FF"/>
                </a:solidFill>
                <a:latin typeface="Calibri"/>
              </a:rPr>
              <a:t>~15ms gecikme (oyun hızı kontrolü)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4663440"/>
            <a:ext cx="3749039" cy="146304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38160" y="4663440"/>
            <a:ext cx="64008" cy="146304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0" y="47548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050"/>
                </a:solidFill>
                <a:latin typeface="Courier New"/>
              </a:rPr>
              <a:t>INT 21h / AH=4Ch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257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7FF"/>
                </a:solidFill>
                <a:latin typeface="Calibri"/>
              </a:rPr>
              <a:t>Programı sonlandır, DOS'a dön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6492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6A0C8"/>
                </a:solidFill>
                <a:latin typeface="Calibri"/>
              </a:rPr>
              <a:t>🔵 Video (INT 10h)   🟢 Klavye (INT 16h)   🟡 Zamanlama   🔴 Sistem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D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ANA OYUN DÖNGÜSÜ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DC32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365760"/>
            <a:ext cx="3657600" cy="685800"/>
          </a:xfrm>
          <a:prstGeom prst="rect">
            <a:avLst/>
          </a:prstGeom>
          <a:solidFill>
            <a:srgbClr val="32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114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BAŞLA</a:t>
            </a:r>
          </a:p>
        </p:txBody>
      </p:sp>
      <p:sp>
        <p:nvSpPr>
          <p:cNvPr id="8" name="Can 7"/>
          <p:cNvSpPr/>
          <p:nvPr/>
        </p:nvSpPr>
        <p:spPr>
          <a:xfrm>
            <a:off x="2011680" y="1051560"/>
            <a:ext cx="0" cy="274320"/>
          </a:xfrm>
          <a:prstGeom prst="can">
            <a:avLst/>
          </a:prstGeom>
          <a:ln w="254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" y="1234440"/>
            <a:ext cx="3657600" cy="68580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1234440"/>
            <a:ext cx="64008" cy="6858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2801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Ekranı Temizle</a:t>
            </a:r>
          </a:p>
        </p:txBody>
      </p:sp>
      <p:sp>
        <p:nvSpPr>
          <p:cNvPr id="12" name="Can 11"/>
          <p:cNvSpPr/>
          <p:nvPr/>
        </p:nvSpPr>
        <p:spPr>
          <a:xfrm>
            <a:off x="2011680" y="1920240"/>
            <a:ext cx="0" cy="274320"/>
          </a:xfrm>
          <a:prstGeom prst="can">
            <a:avLst/>
          </a:prstGeom>
          <a:ln w="254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2880" y="2103120"/>
            <a:ext cx="3657600" cy="68580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2880" y="2103120"/>
            <a:ext cx="64008" cy="6858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214883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HUD Çiz
(Kalkan + Tur)</a:t>
            </a:r>
          </a:p>
        </p:txBody>
      </p:sp>
      <p:sp>
        <p:nvSpPr>
          <p:cNvPr id="16" name="Can 15"/>
          <p:cNvSpPr/>
          <p:nvPr/>
        </p:nvSpPr>
        <p:spPr>
          <a:xfrm>
            <a:off x="2011680" y="2788920"/>
            <a:ext cx="0" cy="274320"/>
          </a:xfrm>
          <a:prstGeom prst="can">
            <a:avLst/>
          </a:prstGeom>
          <a:ln w="254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2880" y="3108960"/>
            <a:ext cx="3657600" cy="68580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2880" y="3108960"/>
            <a:ext cx="64008" cy="6858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315467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Nesneleri Çiz
(Oyuncu, Asteroid, Kalkan)</a:t>
            </a:r>
          </a:p>
        </p:txBody>
      </p:sp>
      <p:sp>
        <p:nvSpPr>
          <p:cNvPr id="20" name="Can 19"/>
          <p:cNvSpPr/>
          <p:nvPr/>
        </p:nvSpPr>
        <p:spPr>
          <a:xfrm>
            <a:off x="2011680" y="3794760"/>
            <a:ext cx="0" cy="274320"/>
          </a:xfrm>
          <a:prstGeom prst="can">
            <a:avLst/>
          </a:prstGeom>
          <a:ln w="254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2880" y="4114800"/>
            <a:ext cx="3657600" cy="68580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2880" y="4114800"/>
            <a:ext cx="64008" cy="6858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4160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Klavye Girişi
Oku</a:t>
            </a:r>
          </a:p>
        </p:txBody>
      </p:sp>
      <p:sp>
        <p:nvSpPr>
          <p:cNvPr id="24" name="Can 23"/>
          <p:cNvSpPr/>
          <p:nvPr/>
        </p:nvSpPr>
        <p:spPr>
          <a:xfrm>
            <a:off x="2011680" y="4800600"/>
            <a:ext cx="0" cy="274320"/>
          </a:xfrm>
          <a:prstGeom prst="can">
            <a:avLst/>
          </a:prstGeom>
          <a:ln w="254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82880" y="5029200"/>
            <a:ext cx="3657600" cy="68580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82880" y="5029200"/>
            <a:ext cx="64008" cy="6858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50749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Nesneleri
Hareket Ettir</a:t>
            </a:r>
          </a:p>
        </p:txBody>
      </p:sp>
      <p:sp>
        <p:nvSpPr>
          <p:cNvPr id="28" name="Can 27"/>
          <p:cNvSpPr/>
          <p:nvPr/>
        </p:nvSpPr>
        <p:spPr>
          <a:xfrm>
            <a:off x="2011680" y="5715000"/>
            <a:ext cx="0" cy="274320"/>
          </a:xfrm>
          <a:prstGeom prst="can">
            <a:avLst/>
          </a:prstGeom>
          <a:ln w="254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82880" y="5943600"/>
            <a:ext cx="3657600" cy="685800"/>
          </a:xfrm>
          <a:prstGeom prst="rect">
            <a:avLst/>
          </a:prstGeom>
          <a:solidFill>
            <a:srgbClr val="7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59893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Çarpışma
Kontrolu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1234440"/>
            <a:ext cx="7315200" cy="548640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0" y="1234440"/>
            <a:ext cx="73152" cy="548640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54880" y="1371600"/>
            <a:ext cx="69494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B4"/>
                </a:solidFill>
                <a:latin typeface="Calibri"/>
              </a:rPr>
              <a:t>DÖNGÜ DETAYLARI</a:t>
            </a:r>
          </a:p>
          <a:p>
            <a:pPr algn="l"/>
            <a:endParaRPr sz="1500" b="1">
              <a:solidFill>
                <a:srgbClr val="00C8B4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C8D7FF"/>
                </a:solidFill>
                <a:latin typeface="Calibri"/>
              </a:rPr>
              <a:t>Her ~15ms'de bir tur çalışır (INT 15h gecikme)</a:t>
            </a:r>
          </a:p>
          <a:p>
            <a:pPr algn="l"/>
            <a:endParaRPr sz="1200" b="0">
              <a:solidFill>
                <a:srgbClr val="C8D7FF"/>
              </a:solidFill>
              <a:latin typeface="Calibri"/>
            </a:endParaRPr>
          </a:p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Çarpışma tespiti:</a:t>
            </a:r>
          </a:p>
          <a:p>
            <a:pPr algn="l"/>
            <a:r>
              <a:rPr sz="1200" b="0">
                <a:solidFill>
                  <a:srgbClr val="C8D7FF"/>
                </a:solidFill>
                <a:latin typeface="Calibri"/>
              </a:rPr>
              <a:t>  • Oyuncu y = Asteroid y  (aynı satır?)</a:t>
            </a:r>
          </a:p>
          <a:p>
            <a:pPr algn="l"/>
            <a:r>
              <a:rPr sz="1200" b="0">
                <a:solidFill>
                  <a:srgbClr val="C8D7FF"/>
                </a:solidFill>
                <a:latin typeface="Calibri"/>
              </a:rPr>
              <a:t>  • Oyuncu x ∈ [ast_x, ast_x + boyut)  (aynı sütun?)</a:t>
            </a:r>
          </a:p>
          <a:p>
            <a:pPr algn="l"/>
            <a:endParaRPr sz="1200" b="0">
              <a:solidFill>
                <a:srgbClr val="C8D7FF"/>
              </a:solidFill>
              <a:latin typeface="Calibri"/>
            </a:endParaRPr>
          </a:p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Kalkan toplanması:</a:t>
            </a:r>
          </a:p>
          <a:p>
            <a:pPr algn="l"/>
            <a:r>
              <a:rPr sz="1200" b="0">
                <a:solidFill>
                  <a:srgbClr val="C8D7FF"/>
                </a:solidFill>
                <a:latin typeface="Calibri"/>
              </a:rPr>
              <a:t>  • Oyuncu y = kalkan_y  VE  oyuncu_x = kalkan_x</a:t>
            </a:r>
          </a:p>
          <a:p>
            <a:pPr algn="l"/>
            <a:endParaRPr sz="1200" b="0">
              <a:solidFill>
                <a:srgbClr val="C8D7FF"/>
              </a:solidFill>
              <a:latin typeface="Calibri"/>
            </a:endParaRPr>
          </a:p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Asteroid yenilenmesi:</a:t>
            </a:r>
          </a:p>
          <a:p>
            <a:pPr algn="l"/>
            <a:r>
              <a:rPr sz="1200" b="0">
                <a:solidFill>
                  <a:srgbClr val="C8D7FF"/>
                </a:solidFill>
                <a:latin typeface="Calibri"/>
              </a:rPr>
              <a:t>  • Ekrandan çıkınca INT 1Ah → rastgele</a:t>
            </a:r>
          </a:p>
          <a:p>
            <a:pPr algn="l"/>
            <a:r>
              <a:rPr sz="1200" b="0">
                <a:solidFill>
                  <a:srgbClr val="C8D7FF"/>
                </a:solidFill>
                <a:latin typeface="Calibri"/>
              </a:rPr>
              <a:t>  • Yeni boyut (1-3), hız (1-2), konum (5-68)</a:t>
            </a:r>
          </a:p>
          <a:p>
            <a:pPr algn="l"/>
            <a:endParaRPr sz="1200" b="0">
              <a:solidFill>
                <a:srgbClr val="C8D7FF"/>
              </a:solidFill>
              <a:latin typeface="Calibri"/>
            </a:endParaRPr>
          </a:p>
          <a:p>
            <a:pPr algn="l"/>
            <a:r>
              <a:rPr sz="1300" b="1">
                <a:solidFill>
                  <a:srgbClr val="FF5050"/>
                </a:solidFill>
                <a:latin typeface="Calibri"/>
              </a:rPr>
              <a:t>Oyun Sonu:</a:t>
            </a:r>
          </a:p>
          <a:p>
            <a:pPr algn="l"/>
            <a:r>
              <a:rPr sz="1200" b="0">
                <a:solidFill>
                  <a:srgbClr val="C8D7FF"/>
                </a:solidFill>
                <a:latin typeface="Calibri"/>
              </a:rPr>
              <a:t>  • Kalkan yokken çarpışma → OYUN_BİTTİ ekranı</a:t>
            </a:r>
          </a:p>
          <a:p>
            <a:pPr algn="l"/>
            <a:r>
              <a:rPr sz="1200" b="0">
                <a:solidFill>
                  <a:srgbClr val="C8D7FF"/>
                </a:solidFill>
                <a:latin typeface="Calibri"/>
              </a:rPr>
              <a:t>  • Son tur sayısı gösterilir, Q ile çıkış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KARŞILAŞILAN ZORLUKLAR &amp; ÇÖZÜMLER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5050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3749039" cy="228600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3749039" cy="384048"/>
          </a:xfrm>
          <a:prstGeom prst="rect">
            <a:avLst/>
          </a:prstGeom>
          <a:solidFill>
            <a:srgbClr val="3F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64008" cy="228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47218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050"/>
                </a:solidFill>
                <a:latin typeface="Calibri"/>
              </a:rPr>
              <a:t>Ekran Titremesi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9280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7FF"/>
                </a:solidFill>
                <a:latin typeface="Calibri"/>
              </a:rPr>
              <a:t>⚠  Her tur tüm ekran silinip yeniden çizilince titreme oluştu.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651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8B4"/>
                </a:solidFill>
                <a:latin typeface="Calibri"/>
              </a:rPr>
              <a:t>✔  INT 15h ile ~15ms gecikme eklendi, çizim sırası optimize edildi.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417320"/>
            <a:ext cx="3749039" cy="228600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417320"/>
            <a:ext cx="3749039" cy="384048"/>
          </a:xfrm>
          <a:prstGeom prst="rect">
            <a:avLst/>
          </a:prstGeom>
          <a:solidFill>
            <a:srgbClr val="3F3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06240" y="1417320"/>
            <a:ext cx="64008" cy="2286000"/>
          </a:xfrm>
          <a:prstGeom prst="rect">
            <a:avLst/>
          </a:prstGeom>
          <a:solidFill>
            <a:srgbClr val="FFD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147218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C32"/>
                </a:solidFill>
                <a:latin typeface="Calibri"/>
              </a:rPr>
              <a:t>Rastgele Sayı Üretimi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89280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7FF"/>
                </a:solidFill>
                <a:latin typeface="Calibri"/>
              </a:rPr>
              <a:t>⚠  Assembly'de hazır rand() bulunmuyor.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651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8B4"/>
                </a:solidFill>
                <a:latin typeface="Calibri"/>
              </a:rPr>
              <a:t>✔  INT 1Ah saat sayacından düşük bitler alındı; AND maskeleri uygulandı.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417320"/>
            <a:ext cx="3749039" cy="228600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417320"/>
            <a:ext cx="3749039" cy="384048"/>
          </a:xfrm>
          <a:prstGeom prst="rect">
            <a:avLst/>
          </a:prstGeom>
          <a:solidFill>
            <a:srgbClr val="003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1417320"/>
            <a:ext cx="64008" cy="228600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147218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B4"/>
                </a:solidFill>
                <a:latin typeface="Calibri"/>
              </a:rPr>
              <a:t>Yazaç Bozulması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89280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7FF"/>
                </a:solidFill>
                <a:latin typeface="Calibri"/>
              </a:rPr>
              <a:t>⚠  Alt programlarda INT 10h çağrısı AX'i bozuyordu.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651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8B4"/>
                </a:solidFill>
                <a:latin typeface="Calibri"/>
              </a:rPr>
              <a:t>✔  Alt program girişinde PUSH AX, çıkışında POP AX eklendi.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77639"/>
            <a:ext cx="3749039" cy="228600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3977639"/>
            <a:ext cx="3749039" cy="384048"/>
          </a:xfrm>
          <a:prstGeom prst="rect">
            <a:avLst/>
          </a:prstGeom>
          <a:solidFill>
            <a:srgbClr val="10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3977639"/>
            <a:ext cx="64008" cy="22860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79" y="4032503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169E1"/>
                </a:solidFill>
                <a:latin typeface="Calibri"/>
              </a:rPr>
              <a:t>Genişlik Tabanlı Çarpışma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453127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7FF"/>
                </a:solidFill>
                <a:latin typeface="Calibri"/>
              </a:rPr>
              <a:t>⚠  Asteroidler 1-3 karakter genişliğinde → nokta karşılaştırma yetmedi.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521207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8B4"/>
                </a:solidFill>
                <a:latin typeface="Calibri"/>
              </a:rPr>
              <a:t>✔  Tüm genişliği tarayan döngü (kontrol_dongusN) yazıldı.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977639"/>
            <a:ext cx="3749039" cy="228600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06240" y="3977639"/>
            <a:ext cx="3749039" cy="384048"/>
          </a:xfrm>
          <a:prstGeom prst="rect">
            <a:avLst/>
          </a:prstGeom>
          <a:solidFill>
            <a:srgbClr val="2D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06240" y="3977639"/>
            <a:ext cx="64008" cy="2286000"/>
          </a:xfrm>
          <a:prstGeom prst="rect">
            <a:avLst/>
          </a:prstGeom>
          <a:solidFill>
            <a:srgbClr val="B4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43400" y="4032503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464FF"/>
                </a:solidFill>
                <a:latin typeface="Calibri"/>
              </a:rPr>
              <a:t>Sınır Kontrolü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453127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7FF"/>
                </a:solidFill>
                <a:latin typeface="Calibri"/>
              </a:rPr>
              <a:t>⚠  Oyuncu ekran dışına çıkabiliyordu.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521207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C8B4"/>
                </a:solidFill>
                <a:latin typeface="Calibri"/>
              </a:rPr>
              <a:t>✔  x konumu 1..78 arasına JLE/JGE komutlarıyla sıkıştırıldı.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457200"/>
            <a:ext cx="64008" cy="64008"/>
          </a:xfrm>
          <a:prstGeom prst="ellipse">
            <a:avLst/>
          </a:prstGeom>
          <a:solidFill>
            <a:srgbClr val="B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0" y="914400"/>
            <a:ext cx="64008" cy="64008"/>
          </a:xfrm>
          <a:prstGeom prst="ellipse">
            <a:avLst/>
          </a:prstGeom>
          <a:solidFill>
            <a:srgbClr val="B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657600" y="365760"/>
            <a:ext cx="64008" cy="64008"/>
          </a:xfrm>
          <a:prstGeom prst="ellipse">
            <a:avLst/>
          </a:prstGeom>
          <a:solidFill>
            <a:srgbClr val="B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86400" y="1097280"/>
            <a:ext cx="64008" cy="64008"/>
          </a:xfrm>
          <a:prstGeom prst="ellipse">
            <a:avLst/>
          </a:prstGeom>
          <a:solidFill>
            <a:srgbClr val="B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0" y="548640"/>
            <a:ext cx="64008" cy="64008"/>
          </a:xfrm>
          <a:prstGeom prst="ellipse">
            <a:avLst/>
          </a:prstGeom>
          <a:solidFill>
            <a:srgbClr val="B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0" y="914400"/>
            <a:ext cx="64008" cy="64008"/>
          </a:xfrm>
          <a:prstGeom prst="ellipse">
            <a:avLst/>
          </a:prstGeom>
          <a:solidFill>
            <a:srgbClr val="B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0" y="365760"/>
            <a:ext cx="64008" cy="64008"/>
          </a:xfrm>
          <a:prstGeom prst="ellipse">
            <a:avLst/>
          </a:prstGeom>
          <a:solidFill>
            <a:srgbClr val="B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5943600"/>
            <a:ext cx="64008" cy="64008"/>
          </a:xfrm>
          <a:prstGeom prst="ellipse">
            <a:avLst/>
          </a:prstGeom>
          <a:solidFill>
            <a:srgbClr val="B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43200" y="6217920"/>
            <a:ext cx="64008" cy="64008"/>
          </a:xfrm>
          <a:prstGeom prst="ellipse">
            <a:avLst/>
          </a:prstGeom>
          <a:solidFill>
            <a:srgbClr val="B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00800" y="5760720"/>
            <a:ext cx="64008" cy="64008"/>
          </a:xfrm>
          <a:prstGeom prst="ellipse">
            <a:avLst/>
          </a:prstGeom>
          <a:solidFill>
            <a:srgbClr val="B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600" y="6400800"/>
            <a:ext cx="64008" cy="64008"/>
          </a:xfrm>
          <a:prstGeom prst="ellipse">
            <a:avLst/>
          </a:prstGeom>
          <a:solidFill>
            <a:srgbClr val="B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58400" y="6126480"/>
            <a:ext cx="64008" cy="64008"/>
          </a:xfrm>
          <a:prstGeom prst="ellipse">
            <a:avLst/>
          </a:prstGeom>
          <a:solidFill>
            <a:srgbClr val="B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71600" y="731520"/>
            <a:ext cx="9418320" cy="5303520"/>
          </a:xfrm>
          <a:prstGeom prst="rect">
            <a:avLst/>
          </a:prstGeom>
          <a:solidFill>
            <a:srgbClr val="141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71600" y="731520"/>
            <a:ext cx="109728" cy="530352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28800" y="9144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SONUÇ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691640"/>
            <a:ext cx="5760720" cy="36576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0" y="19202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8D7FF"/>
                </a:solidFill>
                <a:latin typeface="Calibri"/>
              </a:rPr>
              <a:t>Bu proje kapsamında 8086 Assembly diliyle DOS ortamında
gerçek zamanlı çalışan tam işlevli bir oyun geliştirilmiştir.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2834640"/>
            <a:ext cx="8046720" cy="502920"/>
          </a:xfrm>
          <a:prstGeom prst="rect">
            <a:avLst/>
          </a:prstGeom>
          <a:solidFill>
            <a:srgbClr val="192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103120" y="2834640"/>
            <a:ext cx="54864" cy="50292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86000" y="28803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  ✓  BIOS kesmeleri (INT 10h, 16h, 1Ah, 15h) uygulamalı kullanıldı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0" y="3456432"/>
            <a:ext cx="8046720" cy="502920"/>
          </a:xfrm>
          <a:prstGeom prst="rect">
            <a:avLst/>
          </a:prstGeom>
          <a:solidFill>
            <a:srgbClr val="192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103120" y="3456432"/>
            <a:ext cx="54864" cy="50292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86000" y="350215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  ✓  Stack yönetimi ve PUSH/POP ile yazaç koruması sağlandı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4078224"/>
            <a:ext cx="8046720" cy="502920"/>
          </a:xfrm>
          <a:prstGeom prst="rect">
            <a:avLst/>
          </a:prstGeom>
          <a:solidFill>
            <a:srgbClr val="192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03120" y="4078224"/>
            <a:ext cx="54864" cy="50292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0" y="412394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  ✓  Gerçek zamanlı klavye girişi ve oyun döngüsü tasarlandı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4700016"/>
            <a:ext cx="8046720" cy="502920"/>
          </a:xfrm>
          <a:prstGeom prst="rect">
            <a:avLst/>
          </a:prstGeom>
          <a:solidFill>
            <a:srgbClr val="192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103120" y="4700016"/>
            <a:ext cx="54864" cy="50292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86000" y="474573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  ✓  Segment:Offset bellek modeli pratikte kavrandı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5321808"/>
            <a:ext cx="8046720" cy="502920"/>
          </a:xfrm>
          <a:prstGeom prst="rect">
            <a:avLst/>
          </a:prstGeom>
          <a:solidFill>
            <a:srgbClr val="192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103120" y="5321808"/>
            <a:ext cx="54864" cy="50292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86000" y="536752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7FF"/>
                </a:solidFill>
                <a:latin typeface="Calibri"/>
              </a:rPr>
              <a:t>  ✓  Düşük seviyede rastgelelik ve zamanlama çözümleri geliştirildi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6400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6A0C8"/>
                </a:solidFill>
                <a:latin typeface="Calibri"/>
              </a:rPr>
              <a:t>Yusuf Talha Sağırlı  •  Mikroişlemci Sistemleri  •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713</Words>
  <Application>Microsoft Office PowerPoint</Application>
  <PresentationFormat>Geniş ekran</PresentationFormat>
  <Paragraphs>120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fatih</cp:lastModifiedBy>
  <cp:revision>2</cp:revision>
  <dcterms:created xsi:type="dcterms:W3CDTF">2013-01-27T09:14:16Z</dcterms:created>
  <dcterms:modified xsi:type="dcterms:W3CDTF">2026-04-27T19:48:38Z</dcterms:modified>
  <cp:category/>
</cp:coreProperties>
</file>